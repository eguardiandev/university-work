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5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</p:sldIdLst>
  <p:sldSz cy="5143500" cx="9144000"/>
  <p:notesSz cx="6858000" cy="9144000"/>
  <p:embeddedFontLst>
    <p:embeddedFont>
      <p:font typeface="Ubuntu"/>
      <p:regular r:id="rId11"/>
      <p:bold r:id="rId12"/>
      <p:italic r:id="rId13"/>
      <p:boldItalic r:id="rId14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font" Target="fonts/Ubuntu-regular.fntdata"/><Relationship Id="rId10" Type="http://schemas.openxmlformats.org/officeDocument/2006/relationships/slide" Target="slides/slide5.xml"/><Relationship Id="rId13" Type="http://schemas.openxmlformats.org/officeDocument/2006/relationships/font" Target="fonts/Ubuntu-italic.fntdata"/><Relationship Id="rId12" Type="http://schemas.openxmlformats.org/officeDocument/2006/relationships/font" Target="fonts/Ubuntu-bold.fntdata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font" Target="fonts/Ubuntu-boldItalic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g3d35c96aa68_0_2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" name="Google Shape;63;g3d35c96aa68_0_2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g3d333c39739_0_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" name="Google Shape;74;g3d333c39739_0_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g3d333c39739_0_2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8" name="Google Shape;88;g3d333c39739_0_2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g3d333c39739_0_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1" name="Google Shape;101;g3d333c39739_0_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mc:AlternateContent>
    <mc:Choice Requires="p14">
      <p:transition spd="slow" p14:dur="1000">
        <p:fade/>
      </p:transition>
    </mc:Choice>
    <mc:Fallback>
      <p:transition spd="slow">
        <p:fade/>
      </p:transition>
    </mc:Fallback>
  </mc:AlternateConten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6.png"/><Relationship Id="rId4" Type="http://schemas.openxmlformats.org/officeDocument/2006/relationships/image" Target="../media/image4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6.png"/><Relationship Id="rId4" Type="http://schemas.openxmlformats.org/officeDocument/2006/relationships/image" Target="../media/image4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pn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5.png"/><Relationship Id="rId7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5.png"/><Relationship Id="rId7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5.png"/><Relationship Id="rId7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gradFill>
          <a:gsLst>
            <a:gs pos="0">
              <a:srgbClr val="D4E5F5"/>
            </a:gs>
            <a:gs pos="100000">
              <a:srgbClr val="70A4D5"/>
            </a:gs>
          </a:gsLst>
          <a:path path="circle">
            <a:fillToRect b="50%" l="50%" r="50%" t="50%"/>
          </a:path>
          <a:tileRect/>
        </a:gradFill>
      </p:bgPr>
    </p:bg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463250" y="851350"/>
            <a:ext cx="6217500" cy="857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5400">
                <a:latin typeface="Ubuntu"/>
                <a:ea typeface="Ubuntu"/>
                <a:cs typeface="Ubuntu"/>
                <a:sym typeface="Ubuntu"/>
              </a:rPr>
              <a:t>hello-WaTor</a:t>
            </a:r>
            <a:endParaRPr sz="5400">
              <a:latin typeface="Ubuntu"/>
              <a:ea typeface="Ubuntu"/>
              <a:cs typeface="Ubuntu"/>
              <a:sym typeface="Ubuntu"/>
            </a:endParaRPr>
          </a:p>
        </p:txBody>
      </p:sp>
      <p:sp>
        <p:nvSpPr>
          <p:cNvPr id="55" name="Google Shape;55;p13"/>
          <p:cNvSpPr txBox="1"/>
          <p:nvPr/>
        </p:nvSpPr>
        <p:spPr>
          <a:xfrm>
            <a:off x="742800" y="1900400"/>
            <a:ext cx="7658400" cy="107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2800">
                <a:solidFill>
                  <a:srgbClr val="434343"/>
                </a:solidFill>
                <a:latin typeface="Ubuntu"/>
                <a:ea typeface="Ubuntu"/>
                <a:cs typeface="Ubuntu"/>
                <a:sym typeface="Ubuntu"/>
              </a:rPr>
              <a:t>Water-Torus </a:t>
            </a:r>
            <a:r>
              <a:rPr lang="en" sz="2800">
                <a:solidFill>
                  <a:srgbClr val="434343"/>
                </a:solidFill>
                <a:latin typeface="Ubuntu"/>
                <a:ea typeface="Ubuntu"/>
                <a:cs typeface="Ubuntu"/>
                <a:sym typeface="Ubuntu"/>
              </a:rPr>
              <a:t>симулация на рибки и акули. </a:t>
            </a:r>
            <a:endParaRPr sz="2800">
              <a:solidFill>
                <a:srgbClr val="434343"/>
              </a:solidFill>
              <a:latin typeface="Ubuntu"/>
              <a:ea typeface="Ubuntu"/>
              <a:cs typeface="Ubuntu"/>
              <a:sym typeface="Ubuntu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800">
                <a:solidFill>
                  <a:srgbClr val="434343"/>
                </a:solidFill>
                <a:latin typeface="Ubuntu"/>
                <a:ea typeface="Ubuntu"/>
                <a:cs typeface="Ubuntu"/>
                <a:sym typeface="Ubuntu"/>
              </a:rPr>
              <a:t>Анализ на паралелизъм.</a:t>
            </a:r>
            <a:endParaRPr sz="2800">
              <a:solidFill>
                <a:srgbClr val="434343"/>
              </a:solidFill>
              <a:latin typeface="Ubuntu"/>
              <a:ea typeface="Ubuntu"/>
              <a:cs typeface="Ubuntu"/>
              <a:sym typeface="Ubuntu"/>
            </a:endParaRPr>
          </a:p>
        </p:txBody>
      </p:sp>
      <p:sp>
        <p:nvSpPr>
          <p:cNvPr id="56" name="Google Shape;56;p13"/>
          <p:cNvSpPr txBox="1"/>
          <p:nvPr/>
        </p:nvSpPr>
        <p:spPr>
          <a:xfrm>
            <a:off x="742800" y="4593675"/>
            <a:ext cx="7658400" cy="441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700">
                <a:latin typeface="Ubuntu"/>
                <a:ea typeface="Ubuntu"/>
                <a:cs typeface="Ubuntu"/>
                <a:sym typeface="Ubuntu"/>
              </a:rPr>
              <a:t>Цветомир Стайков - КН - 1MI0800469 - 3 курс - 2 група</a:t>
            </a:r>
            <a:endParaRPr sz="1700">
              <a:latin typeface="Ubuntu"/>
              <a:ea typeface="Ubuntu"/>
              <a:cs typeface="Ubuntu"/>
              <a:sym typeface="Ubuntu"/>
            </a:endParaRPr>
          </a:p>
        </p:txBody>
      </p:sp>
      <p:pic>
        <p:nvPicPr>
          <p:cNvPr id="57" name="Google Shape;57;p13" title="Fish-export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372764">
            <a:off x="851175" y="3607487"/>
            <a:ext cx="792650" cy="792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58" name="Google Shape;58;p13" title="shark-export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 rot="-324261">
            <a:off x="5144125" y="2837537"/>
            <a:ext cx="3065650" cy="1532825"/>
          </a:xfrm>
          <a:prstGeom prst="rect">
            <a:avLst/>
          </a:prstGeom>
          <a:noFill/>
          <a:ln>
            <a:noFill/>
          </a:ln>
        </p:spPr>
      </p:pic>
      <p:pic>
        <p:nvPicPr>
          <p:cNvPr id="59" name="Google Shape;59;p13" title="Fish-export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-192927">
            <a:off x="1837250" y="2766425"/>
            <a:ext cx="925100" cy="925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0" name="Google Shape;60;p13" title="Fish-export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-351630">
            <a:off x="2644946" y="3597674"/>
            <a:ext cx="634575" cy="6345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>
    <mc:Choice Requires="p14">
      <p:transition spd="slow" p14:dur="1000">
        <p:fade/>
      </p:transition>
    </mc:Choice>
    <mc:Fallback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gradFill>
          <a:gsLst>
            <a:gs pos="0">
              <a:srgbClr val="D4E5F5"/>
            </a:gs>
            <a:gs pos="100000">
              <a:srgbClr val="70A4D5"/>
            </a:gs>
          </a:gsLst>
          <a:path path="circle">
            <a:fillToRect b="50%" l="50%" r="50%" t="50%"/>
          </a:path>
          <a:tileRect/>
        </a:gradFill>
      </p:bgPr>
    </p:bg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14"/>
          <p:cNvSpPr txBox="1"/>
          <p:nvPr/>
        </p:nvSpPr>
        <p:spPr>
          <a:xfrm>
            <a:off x="742800" y="4593675"/>
            <a:ext cx="7658400" cy="441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700">
                <a:latin typeface="Ubuntu"/>
                <a:ea typeface="Ubuntu"/>
                <a:cs typeface="Ubuntu"/>
                <a:sym typeface="Ubuntu"/>
              </a:rPr>
              <a:t>Цветомир Стайков - КН - 1MI0800469 - 3 курс - 2 група</a:t>
            </a:r>
            <a:endParaRPr sz="1700">
              <a:latin typeface="Ubuntu"/>
              <a:ea typeface="Ubuntu"/>
              <a:cs typeface="Ubuntu"/>
              <a:sym typeface="Ubuntu"/>
            </a:endParaRPr>
          </a:p>
        </p:txBody>
      </p:sp>
      <p:pic>
        <p:nvPicPr>
          <p:cNvPr id="66" name="Google Shape;66;p14" title="Fish-export.png"/>
          <p:cNvPicPr preferRelativeResize="0"/>
          <p:nvPr/>
        </p:nvPicPr>
        <p:blipFill>
          <a:blip r:embed="rId3">
            <a:alphaModFix amt="38000"/>
          </a:blip>
          <a:stretch>
            <a:fillRect/>
          </a:stretch>
        </p:blipFill>
        <p:spPr>
          <a:xfrm rot="372764">
            <a:off x="851175" y="3607487"/>
            <a:ext cx="792650" cy="792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67" name="Google Shape;67;p14" title="shark-export.png"/>
          <p:cNvPicPr preferRelativeResize="0"/>
          <p:nvPr/>
        </p:nvPicPr>
        <p:blipFill>
          <a:blip r:embed="rId4">
            <a:alphaModFix amt="38000"/>
          </a:blip>
          <a:stretch>
            <a:fillRect/>
          </a:stretch>
        </p:blipFill>
        <p:spPr>
          <a:xfrm rot="-324261">
            <a:off x="5144125" y="2837537"/>
            <a:ext cx="3065650" cy="1532825"/>
          </a:xfrm>
          <a:prstGeom prst="rect">
            <a:avLst/>
          </a:prstGeom>
          <a:noFill/>
          <a:ln>
            <a:noFill/>
          </a:ln>
        </p:spPr>
      </p:pic>
      <p:pic>
        <p:nvPicPr>
          <p:cNvPr id="68" name="Google Shape;68;p14" title="Fish-export.png"/>
          <p:cNvPicPr preferRelativeResize="0"/>
          <p:nvPr/>
        </p:nvPicPr>
        <p:blipFill>
          <a:blip r:embed="rId3">
            <a:alphaModFix amt="38000"/>
          </a:blip>
          <a:stretch>
            <a:fillRect/>
          </a:stretch>
        </p:blipFill>
        <p:spPr>
          <a:xfrm rot="-192927">
            <a:off x="1837250" y="2766425"/>
            <a:ext cx="925100" cy="925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9" name="Google Shape;69;p14" title="Fish-export.png"/>
          <p:cNvPicPr preferRelativeResize="0"/>
          <p:nvPr/>
        </p:nvPicPr>
        <p:blipFill>
          <a:blip r:embed="rId3">
            <a:alphaModFix amt="38000"/>
          </a:blip>
          <a:stretch>
            <a:fillRect/>
          </a:stretch>
        </p:blipFill>
        <p:spPr>
          <a:xfrm rot="-351630">
            <a:off x="2644946" y="3597674"/>
            <a:ext cx="634575" cy="634575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p14"/>
          <p:cNvSpPr txBox="1"/>
          <p:nvPr/>
        </p:nvSpPr>
        <p:spPr>
          <a:xfrm>
            <a:off x="1463250" y="118275"/>
            <a:ext cx="6217500" cy="857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4000">
                <a:latin typeface="Ubuntu"/>
                <a:ea typeface="Ubuntu"/>
                <a:cs typeface="Ubuntu"/>
                <a:sym typeface="Ubuntu"/>
              </a:rPr>
              <a:t>hello-WaTor</a:t>
            </a:r>
            <a:endParaRPr sz="4000">
              <a:latin typeface="Ubuntu"/>
              <a:ea typeface="Ubuntu"/>
              <a:cs typeface="Ubuntu"/>
              <a:sym typeface="Ubuntu"/>
            </a:endParaRPr>
          </a:p>
        </p:txBody>
      </p:sp>
      <p:sp>
        <p:nvSpPr>
          <p:cNvPr id="71" name="Google Shape;71;p14"/>
          <p:cNvSpPr txBox="1"/>
          <p:nvPr/>
        </p:nvSpPr>
        <p:spPr>
          <a:xfrm>
            <a:off x="1051050" y="1398721"/>
            <a:ext cx="7041900" cy="1595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rPr>
              <a:t>Симулация на хищници и плячка в свят, наподобяващ донът. Има два вида животни - риби (плячка) и акули (хищници). Прилагат се специфични правила за местене, гладуване и размножаване. </a:t>
            </a:r>
            <a:endParaRPr sz="1800">
              <a:solidFill>
                <a:schemeClr val="dk1"/>
              </a:solidFill>
              <a:latin typeface="Ubuntu"/>
              <a:ea typeface="Ubuntu"/>
              <a:cs typeface="Ubuntu"/>
              <a:sym typeface="Ubuntu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gradFill>
          <a:gsLst>
            <a:gs pos="0">
              <a:srgbClr val="D4E5F5"/>
            </a:gs>
            <a:gs pos="100000">
              <a:srgbClr val="70A4D5"/>
            </a:gs>
          </a:gsLst>
          <a:path path="circle">
            <a:fillToRect b="50%" l="50%" r="50%" t="50%"/>
          </a:path>
          <a:tileRect/>
        </a:gradFill>
      </p:bgPr>
    </p:bg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5"/>
          <p:cNvSpPr txBox="1"/>
          <p:nvPr/>
        </p:nvSpPr>
        <p:spPr>
          <a:xfrm>
            <a:off x="742800" y="4593675"/>
            <a:ext cx="7658400" cy="441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700">
                <a:latin typeface="Ubuntu"/>
                <a:ea typeface="Ubuntu"/>
                <a:cs typeface="Ubuntu"/>
                <a:sym typeface="Ubuntu"/>
              </a:rPr>
              <a:t>Цветомир Стайков - КН - 1MI0800469 - 3 курс - 2 група</a:t>
            </a:r>
            <a:endParaRPr sz="1700">
              <a:latin typeface="Ubuntu"/>
              <a:ea typeface="Ubuntu"/>
              <a:cs typeface="Ubuntu"/>
              <a:sym typeface="Ubuntu"/>
            </a:endParaRPr>
          </a:p>
        </p:txBody>
      </p:sp>
      <p:sp>
        <p:nvSpPr>
          <p:cNvPr id="77" name="Google Shape;77;p15"/>
          <p:cNvSpPr txBox="1"/>
          <p:nvPr/>
        </p:nvSpPr>
        <p:spPr>
          <a:xfrm>
            <a:off x="1158775" y="1358300"/>
            <a:ext cx="6582000" cy="1595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rPr>
              <a:t>План на проекта:</a:t>
            </a:r>
            <a:endParaRPr b="1" sz="1800">
              <a:solidFill>
                <a:schemeClr val="dk1"/>
              </a:solidFill>
              <a:latin typeface="Ubuntu"/>
              <a:ea typeface="Ubuntu"/>
              <a:cs typeface="Ubuntu"/>
              <a:sym typeface="Ubuntu"/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Ubuntu"/>
              <a:buChar char="●"/>
            </a:pPr>
            <a:r>
              <a:rPr lang="en" sz="1800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rPr>
              <a:t>Разглеждане на различни методи за реализиране</a:t>
            </a:r>
            <a:endParaRPr sz="1800">
              <a:solidFill>
                <a:schemeClr val="dk1"/>
              </a:solidFill>
              <a:latin typeface="Ubuntu"/>
              <a:ea typeface="Ubuntu"/>
              <a:cs typeface="Ubuntu"/>
              <a:sym typeface="Ubuntu"/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Ubuntu"/>
              <a:buChar char="●"/>
            </a:pPr>
            <a:r>
              <a:rPr lang="en" sz="1800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rPr>
              <a:t>Тестване при различни параметри - размер на полето, брой нишки, жизненост на животните</a:t>
            </a:r>
            <a:endParaRPr sz="1800">
              <a:solidFill>
                <a:schemeClr val="dk1"/>
              </a:solidFill>
              <a:latin typeface="Ubuntu"/>
              <a:ea typeface="Ubuntu"/>
              <a:cs typeface="Ubuntu"/>
              <a:sym typeface="Ubuntu"/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Ubuntu"/>
              <a:buChar char="●"/>
            </a:pPr>
            <a:r>
              <a:rPr lang="en" sz="1800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rPr>
              <a:t>Анализ на ефективността</a:t>
            </a:r>
            <a:endParaRPr sz="1800">
              <a:solidFill>
                <a:schemeClr val="dk1"/>
              </a:solidFill>
              <a:latin typeface="Ubuntu"/>
              <a:ea typeface="Ubuntu"/>
              <a:cs typeface="Ubuntu"/>
              <a:sym typeface="Ubuntu"/>
            </a:endParaRPr>
          </a:p>
        </p:txBody>
      </p:sp>
      <p:pic>
        <p:nvPicPr>
          <p:cNvPr id="78" name="Google Shape;78;p15" title="Fish-export.png"/>
          <p:cNvPicPr preferRelativeResize="0"/>
          <p:nvPr/>
        </p:nvPicPr>
        <p:blipFill>
          <a:blip r:embed="rId3">
            <a:alphaModFix amt="38000"/>
          </a:blip>
          <a:stretch>
            <a:fillRect/>
          </a:stretch>
        </p:blipFill>
        <p:spPr>
          <a:xfrm rot="-791181">
            <a:off x="7139375" y="2460925"/>
            <a:ext cx="925100" cy="925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9" name="Google Shape;79;p15" title="Fish-export.png"/>
          <p:cNvPicPr preferRelativeResize="0"/>
          <p:nvPr/>
        </p:nvPicPr>
        <p:blipFill>
          <a:blip r:embed="rId3">
            <a:alphaModFix amt="38000"/>
          </a:blip>
          <a:stretch>
            <a:fillRect/>
          </a:stretch>
        </p:blipFill>
        <p:spPr>
          <a:xfrm rot="273788">
            <a:off x="4928973" y="3436900"/>
            <a:ext cx="671575" cy="671575"/>
          </a:xfrm>
          <a:prstGeom prst="rect">
            <a:avLst/>
          </a:prstGeom>
          <a:noFill/>
          <a:ln>
            <a:noFill/>
          </a:ln>
        </p:spPr>
      </p:pic>
      <p:pic>
        <p:nvPicPr>
          <p:cNvPr id="80" name="Google Shape;80;p15" title="Fish-export.png"/>
          <p:cNvPicPr preferRelativeResize="0"/>
          <p:nvPr/>
        </p:nvPicPr>
        <p:blipFill>
          <a:blip r:embed="rId3">
            <a:alphaModFix amt="38000"/>
          </a:blip>
          <a:stretch>
            <a:fillRect/>
          </a:stretch>
        </p:blipFill>
        <p:spPr>
          <a:xfrm rot="273788">
            <a:off x="2247248" y="3310563"/>
            <a:ext cx="671575" cy="671575"/>
          </a:xfrm>
          <a:prstGeom prst="rect">
            <a:avLst/>
          </a:prstGeom>
          <a:noFill/>
          <a:ln>
            <a:noFill/>
          </a:ln>
        </p:spPr>
      </p:pic>
      <p:pic>
        <p:nvPicPr>
          <p:cNvPr id="81" name="Google Shape;81;p15" title="stone2.png"/>
          <p:cNvPicPr preferRelativeResize="0"/>
          <p:nvPr/>
        </p:nvPicPr>
        <p:blipFill>
          <a:blip r:embed="rId4">
            <a:alphaModFix amt="17000"/>
          </a:blip>
          <a:stretch>
            <a:fillRect/>
          </a:stretch>
        </p:blipFill>
        <p:spPr>
          <a:xfrm>
            <a:off x="367400" y="4426175"/>
            <a:ext cx="672850" cy="672850"/>
          </a:xfrm>
          <a:prstGeom prst="rect">
            <a:avLst/>
          </a:prstGeom>
          <a:noFill/>
          <a:ln>
            <a:noFill/>
          </a:ln>
        </p:spPr>
      </p:pic>
      <p:pic>
        <p:nvPicPr>
          <p:cNvPr id="82" name="Google Shape;82;p15" title="Stone1.png"/>
          <p:cNvPicPr preferRelativeResize="0"/>
          <p:nvPr/>
        </p:nvPicPr>
        <p:blipFill>
          <a:blip r:embed="rId5">
            <a:alphaModFix amt="15000"/>
          </a:blip>
          <a:stretch>
            <a:fillRect/>
          </a:stretch>
        </p:blipFill>
        <p:spPr>
          <a:xfrm>
            <a:off x="7826399" y="4246775"/>
            <a:ext cx="852250" cy="852250"/>
          </a:xfrm>
          <a:prstGeom prst="rect">
            <a:avLst/>
          </a:prstGeom>
          <a:noFill/>
          <a:ln>
            <a:noFill/>
          </a:ln>
        </p:spPr>
      </p:pic>
      <p:pic>
        <p:nvPicPr>
          <p:cNvPr id="83" name="Google Shape;83;p15" title="algae2.png"/>
          <p:cNvPicPr preferRelativeResize="0"/>
          <p:nvPr/>
        </p:nvPicPr>
        <p:blipFill>
          <a:blip r:embed="rId6">
            <a:alphaModFix amt="15000"/>
          </a:blip>
          <a:stretch>
            <a:fillRect/>
          </a:stretch>
        </p:blipFill>
        <p:spPr>
          <a:xfrm>
            <a:off x="8280175" y="3548100"/>
            <a:ext cx="797700" cy="1595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4" name="Google Shape;84;p15" title="algae1.png"/>
          <p:cNvPicPr preferRelativeResize="0"/>
          <p:nvPr/>
        </p:nvPicPr>
        <p:blipFill>
          <a:blip r:embed="rId7">
            <a:alphaModFix amt="15000"/>
          </a:blip>
          <a:stretch>
            <a:fillRect/>
          </a:stretch>
        </p:blipFill>
        <p:spPr>
          <a:xfrm>
            <a:off x="571575" y="3479350"/>
            <a:ext cx="939100" cy="1878200"/>
          </a:xfrm>
          <a:prstGeom prst="rect">
            <a:avLst/>
          </a:prstGeom>
          <a:noFill/>
          <a:ln>
            <a:noFill/>
          </a:ln>
        </p:spPr>
      </p:pic>
      <p:sp>
        <p:nvSpPr>
          <p:cNvPr id="85" name="Google Shape;85;p15"/>
          <p:cNvSpPr txBox="1"/>
          <p:nvPr/>
        </p:nvSpPr>
        <p:spPr>
          <a:xfrm>
            <a:off x="1463250" y="118275"/>
            <a:ext cx="6217500" cy="857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4000">
                <a:latin typeface="Ubuntu"/>
                <a:ea typeface="Ubuntu"/>
                <a:cs typeface="Ubuntu"/>
                <a:sym typeface="Ubuntu"/>
              </a:rPr>
              <a:t>hello-WaTor</a:t>
            </a:r>
            <a:endParaRPr sz="4000">
              <a:latin typeface="Ubuntu"/>
              <a:ea typeface="Ubuntu"/>
              <a:cs typeface="Ubuntu"/>
              <a:sym typeface="Ubuntu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gradFill>
          <a:gsLst>
            <a:gs pos="0">
              <a:srgbClr val="D4E5F5"/>
            </a:gs>
            <a:gs pos="100000">
              <a:srgbClr val="70A4D5"/>
            </a:gs>
          </a:gsLst>
          <a:path path="circle">
            <a:fillToRect b="50%" l="50%" r="50%" t="50%"/>
          </a:path>
          <a:tileRect/>
        </a:gradFill>
      </p:bgPr>
    </p:bg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6"/>
          <p:cNvSpPr txBox="1"/>
          <p:nvPr/>
        </p:nvSpPr>
        <p:spPr>
          <a:xfrm>
            <a:off x="742800" y="4593675"/>
            <a:ext cx="7658400" cy="441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700">
                <a:latin typeface="Ubuntu"/>
                <a:ea typeface="Ubuntu"/>
                <a:cs typeface="Ubuntu"/>
                <a:sym typeface="Ubuntu"/>
              </a:rPr>
              <a:t>Цветомир Стайков - КН - 1MI0800469 - 3 курс - 2 група</a:t>
            </a:r>
            <a:endParaRPr sz="1700">
              <a:latin typeface="Ubuntu"/>
              <a:ea typeface="Ubuntu"/>
              <a:cs typeface="Ubuntu"/>
              <a:sym typeface="Ubuntu"/>
            </a:endParaRPr>
          </a:p>
        </p:txBody>
      </p:sp>
      <p:sp>
        <p:nvSpPr>
          <p:cNvPr id="91" name="Google Shape;91;p16"/>
          <p:cNvSpPr txBox="1"/>
          <p:nvPr/>
        </p:nvSpPr>
        <p:spPr>
          <a:xfrm>
            <a:off x="1040250" y="1418825"/>
            <a:ext cx="6582000" cy="1443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rPr>
              <a:t>Изисквания при изпълнение на реализацията:</a:t>
            </a:r>
            <a:endParaRPr b="1" sz="1800">
              <a:solidFill>
                <a:schemeClr val="dk1"/>
              </a:solidFill>
              <a:latin typeface="Ubuntu"/>
              <a:ea typeface="Ubuntu"/>
              <a:cs typeface="Ubuntu"/>
              <a:sym typeface="Ubuntu"/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Ubuntu"/>
              <a:buChar char="●"/>
            </a:pPr>
            <a:r>
              <a:rPr lang="en" sz="1800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rPr>
              <a:t>Модел - SPMD</a:t>
            </a:r>
            <a:endParaRPr sz="1800">
              <a:solidFill>
                <a:schemeClr val="dk1"/>
              </a:solidFill>
              <a:latin typeface="Ubuntu"/>
              <a:ea typeface="Ubuntu"/>
              <a:cs typeface="Ubuntu"/>
              <a:sym typeface="Ubuntu"/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Ubuntu"/>
              <a:buChar char="●"/>
            </a:pPr>
            <a:r>
              <a:rPr lang="en" sz="1800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rPr>
              <a:t>Балансиране - Статично</a:t>
            </a:r>
            <a:endParaRPr sz="1800">
              <a:solidFill>
                <a:schemeClr val="dk1"/>
              </a:solidFill>
              <a:latin typeface="Ubuntu"/>
              <a:ea typeface="Ubuntu"/>
              <a:cs typeface="Ubuntu"/>
              <a:sym typeface="Ubuntu"/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Ubuntu"/>
              <a:buChar char="●"/>
            </a:pPr>
            <a:r>
              <a:rPr lang="en" sz="1800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rPr>
              <a:t>Адаптиране към cache</a:t>
            </a:r>
            <a:endParaRPr sz="1800">
              <a:solidFill>
                <a:schemeClr val="dk1"/>
              </a:solidFill>
              <a:latin typeface="Ubuntu"/>
              <a:ea typeface="Ubuntu"/>
              <a:cs typeface="Ubuntu"/>
              <a:sym typeface="Ubuntu"/>
            </a:endParaRPr>
          </a:p>
        </p:txBody>
      </p:sp>
      <p:sp>
        <p:nvSpPr>
          <p:cNvPr id="92" name="Google Shape;92;p16"/>
          <p:cNvSpPr txBox="1"/>
          <p:nvPr/>
        </p:nvSpPr>
        <p:spPr>
          <a:xfrm>
            <a:off x="1098750" y="3073600"/>
            <a:ext cx="6582000" cy="857400"/>
          </a:xfrm>
          <a:prstGeom prst="rect">
            <a:avLst/>
          </a:prstGeom>
          <a:noFill/>
          <a:ln>
            <a:noFill/>
          </a:ln>
          <a:effectLst>
            <a:outerShdw blurRad="57150" rotWithShape="0" algn="bl" dir="5400000" dist="19050">
              <a:srgbClr val="000000">
                <a:alpha val="15000"/>
              </a:srgbClr>
            </a:outerShdw>
          </a:effectLst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rPr>
              <a:t>Допълнителни теми за разглеждане:</a:t>
            </a:r>
            <a:endParaRPr b="1" sz="1800">
              <a:solidFill>
                <a:schemeClr val="dk1"/>
              </a:solidFill>
              <a:latin typeface="Ubuntu"/>
              <a:ea typeface="Ubuntu"/>
              <a:cs typeface="Ubuntu"/>
              <a:sym typeface="Ubuntu"/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Ubuntu"/>
              <a:buChar char="●"/>
            </a:pPr>
            <a:r>
              <a:rPr lang="en" sz="1800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rPr>
              <a:t>Динамично централизирано балансиране</a:t>
            </a:r>
            <a:endParaRPr sz="1800">
              <a:solidFill>
                <a:schemeClr val="dk1"/>
              </a:solidFill>
              <a:latin typeface="Ubuntu"/>
              <a:ea typeface="Ubuntu"/>
              <a:cs typeface="Ubuntu"/>
              <a:sym typeface="Ubuntu"/>
            </a:endParaRPr>
          </a:p>
        </p:txBody>
      </p:sp>
      <p:pic>
        <p:nvPicPr>
          <p:cNvPr id="93" name="Google Shape;93;p16" title="shark-export.png"/>
          <p:cNvPicPr preferRelativeResize="0"/>
          <p:nvPr/>
        </p:nvPicPr>
        <p:blipFill>
          <a:blip r:embed="rId3">
            <a:alphaModFix amt="15000"/>
          </a:blip>
          <a:stretch>
            <a:fillRect/>
          </a:stretch>
        </p:blipFill>
        <p:spPr>
          <a:xfrm rot="-324261">
            <a:off x="5454500" y="1895737"/>
            <a:ext cx="3065650" cy="1532825"/>
          </a:xfrm>
          <a:prstGeom prst="rect">
            <a:avLst/>
          </a:prstGeom>
          <a:noFill/>
          <a:ln>
            <a:noFill/>
          </a:ln>
        </p:spPr>
      </p:pic>
      <p:pic>
        <p:nvPicPr>
          <p:cNvPr id="94" name="Google Shape;94;p16" title="stone2.png"/>
          <p:cNvPicPr preferRelativeResize="0"/>
          <p:nvPr/>
        </p:nvPicPr>
        <p:blipFill>
          <a:blip r:embed="rId4">
            <a:alphaModFix amt="17000"/>
          </a:blip>
          <a:stretch>
            <a:fillRect/>
          </a:stretch>
        </p:blipFill>
        <p:spPr>
          <a:xfrm>
            <a:off x="367400" y="4426175"/>
            <a:ext cx="672850" cy="672850"/>
          </a:xfrm>
          <a:prstGeom prst="rect">
            <a:avLst/>
          </a:prstGeom>
          <a:noFill/>
          <a:ln>
            <a:noFill/>
          </a:ln>
        </p:spPr>
      </p:pic>
      <p:pic>
        <p:nvPicPr>
          <p:cNvPr id="95" name="Google Shape;95;p16" title="Stone1.png"/>
          <p:cNvPicPr preferRelativeResize="0"/>
          <p:nvPr/>
        </p:nvPicPr>
        <p:blipFill>
          <a:blip r:embed="rId5">
            <a:alphaModFix amt="15000"/>
          </a:blip>
          <a:stretch>
            <a:fillRect/>
          </a:stretch>
        </p:blipFill>
        <p:spPr>
          <a:xfrm>
            <a:off x="7826399" y="4246775"/>
            <a:ext cx="852250" cy="852250"/>
          </a:xfrm>
          <a:prstGeom prst="rect">
            <a:avLst/>
          </a:prstGeom>
          <a:noFill/>
          <a:ln>
            <a:noFill/>
          </a:ln>
        </p:spPr>
      </p:pic>
      <p:pic>
        <p:nvPicPr>
          <p:cNvPr id="96" name="Google Shape;96;p16" title="algae2.png"/>
          <p:cNvPicPr preferRelativeResize="0"/>
          <p:nvPr/>
        </p:nvPicPr>
        <p:blipFill>
          <a:blip r:embed="rId6">
            <a:alphaModFix amt="15000"/>
          </a:blip>
          <a:stretch>
            <a:fillRect/>
          </a:stretch>
        </p:blipFill>
        <p:spPr>
          <a:xfrm>
            <a:off x="8280175" y="3548100"/>
            <a:ext cx="797700" cy="1595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7" name="Google Shape;97;p16" title="algae1.png"/>
          <p:cNvPicPr preferRelativeResize="0"/>
          <p:nvPr/>
        </p:nvPicPr>
        <p:blipFill>
          <a:blip r:embed="rId7">
            <a:alphaModFix amt="15000"/>
          </a:blip>
          <a:stretch>
            <a:fillRect/>
          </a:stretch>
        </p:blipFill>
        <p:spPr>
          <a:xfrm>
            <a:off x="571575" y="3479350"/>
            <a:ext cx="939100" cy="1878200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p16"/>
          <p:cNvSpPr txBox="1"/>
          <p:nvPr/>
        </p:nvSpPr>
        <p:spPr>
          <a:xfrm>
            <a:off x="1463250" y="118275"/>
            <a:ext cx="6217500" cy="857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4000">
                <a:latin typeface="Ubuntu"/>
                <a:ea typeface="Ubuntu"/>
                <a:cs typeface="Ubuntu"/>
                <a:sym typeface="Ubuntu"/>
              </a:rPr>
              <a:t>hello-WaTor</a:t>
            </a:r>
            <a:endParaRPr sz="4000">
              <a:latin typeface="Ubuntu"/>
              <a:ea typeface="Ubuntu"/>
              <a:cs typeface="Ubuntu"/>
              <a:sym typeface="Ubuntu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gradFill>
          <a:gsLst>
            <a:gs pos="0">
              <a:srgbClr val="D4E5F5"/>
            </a:gs>
            <a:gs pos="100000">
              <a:srgbClr val="70A4D5"/>
            </a:gs>
          </a:gsLst>
          <a:path path="circle">
            <a:fillToRect b="50%" l="50%" r="50%" t="50%"/>
          </a:path>
          <a:tileRect/>
        </a:gradFill>
      </p:bgPr>
    </p:bg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17"/>
          <p:cNvSpPr txBox="1"/>
          <p:nvPr/>
        </p:nvSpPr>
        <p:spPr>
          <a:xfrm>
            <a:off x="742800" y="4593675"/>
            <a:ext cx="7658400" cy="441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700">
                <a:latin typeface="Ubuntu"/>
                <a:ea typeface="Ubuntu"/>
                <a:cs typeface="Ubuntu"/>
                <a:sym typeface="Ubuntu"/>
              </a:rPr>
              <a:t>Цветомир Стайков - КН - 1MI0800469 - 3 курс - 2 група</a:t>
            </a:r>
            <a:endParaRPr sz="1700">
              <a:latin typeface="Ubuntu"/>
              <a:ea typeface="Ubuntu"/>
              <a:cs typeface="Ubuntu"/>
              <a:sym typeface="Ubuntu"/>
            </a:endParaRPr>
          </a:p>
        </p:txBody>
      </p:sp>
      <p:sp>
        <p:nvSpPr>
          <p:cNvPr id="104" name="Google Shape;104;p17"/>
          <p:cNvSpPr txBox="1"/>
          <p:nvPr/>
        </p:nvSpPr>
        <p:spPr>
          <a:xfrm>
            <a:off x="1604425" y="1327263"/>
            <a:ext cx="6582000" cy="2493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rPr>
              <a:t>План за реализация:</a:t>
            </a:r>
            <a:endParaRPr b="1" sz="1800">
              <a:solidFill>
                <a:schemeClr val="dk1"/>
              </a:solidFill>
              <a:latin typeface="Ubuntu"/>
              <a:ea typeface="Ubuntu"/>
              <a:cs typeface="Ubuntu"/>
              <a:sym typeface="Ubuntu"/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Ubuntu"/>
              <a:buChar char="●"/>
            </a:pPr>
            <a:r>
              <a:rPr lang="en" sz="1800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rPr>
              <a:t>Проучване на темата - статии и проекти</a:t>
            </a:r>
            <a:endParaRPr sz="1800">
              <a:solidFill>
                <a:schemeClr val="dk1"/>
              </a:solidFill>
              <a:latin typeface="Ubuntu"/>
              <a:ea typeface="Ubuntu"/>
              <a:cs typeface="Ubuntu"/>
              <a:sym typeface="Ubuntu"/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Ubuntu"/>
              <a:buChar char="●"/>
            </a:pPr>
            <a:r>
              <a:rPr lang="en" sz="1800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rPr>
              <a:t>Проектиране</a:t>
            </a:r>
            <a:endParaRPr sz="1800">
              <a:solidFill>
                <a:schemeClr val="dk1"/>
              </a:solidFill>
              <a:latin typeface="Ubuntu"/>
              <a:ea typeface="Ubuntu"/>
              <a:cs typeface="Ubuntu"/>
              <a:sym typeface="Ubuntu"/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Ubuntu"/>
              <a:buChar char="●"/>
            </a:pPr>
            <a:r>
              <a:rPr lang="en" sz="1800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rPr>
              <a:t>Документиране</a:t>
            </a:r>
            <a:endParaRPr sz="1800">
              <a:solidFill>
                <a:schemeClr val="dk1"/>
              </a:solidFill>
              <a:latin typeface="Ubuntu"/>
              <a:ea typeface="Ubuntu"/>
              <a:cs typeface="Ubuntu"/>
              <a:sym typeface="Ubuntu"/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Ubuntu"/>
              <a:buChar char="●"/>
            </a:pPr>
            <a:r>
              <a:rPr lang="en" sz="1800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rPr>
              <a:t>Тестване</a:t>
            </a:r>
            <a:endParaRPr sz="1800">
              <a:solidFill>
                <a:schemeClr val="dk1"/>
              </a:solidFill>
              <a:latin typeface="Ubuntu"/>
              <a:ea typeface="Ubuntu"/>
              <a:cs typeface="Ubuntu"/>
              <a:sym typeface="Ubuntu"/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Ubuntu"/>
              <a:buChar char="●"/>
            </a:pPr>
            <a:r>
              <a:rPr lang="en" sz="1800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rPr>
              <a:t>Преработка на проекта</a:t>
            </a:r>
            <a:endParaRPr sz="1800">
              <a:solidFill>
                <a:schemeClr val="dk1"/>
              </a:solidFill>
              <a:latin typeface="Ubuntu"/>
              <a:ea typeface="Ubuntu"/>
              <a:cs typeface="Ubuntu"/>
              <a:sym typeface="Ubuntu"/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Ubuntu"/>
              <a:buChar char="●"/>
            </a:pPr>
            <a:r>
              <a:rPr lang="en" sz="1800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rPr>
              <a:t>Анализ</a:t>
            </a:r>
            <a:endParaRPr sz="1800">
              <a:solidFill>
                <a:schemeClr val="dk1"/>
              </a:solidFill>
              <a:latin typeface="Ubuntu"/>
              <a:ea typeface="Ubuntu"/>
              <a:cs typeface="Ubuntu"/>
              <a:sym typeface="Ubuntu"/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Ubuntu"/>
              <a:buChar char="●"/>
            </a:pPr>
            <a:r>
              <a:rPr lang="en" sz="1800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rPr>
              <a:t>Финално документиране</a:t>
            </a:r>
            <a:endParaRPr sz="1800">
              <a:solidFill>
                <a:schemeClr val="dk1"/>
              </a:solidFill>
              <a:latin typeface="Ubuntu"/>
              <a:ea typeface="Ubuntu"/>
              <a:cs typeface="Ubuntu"/>
              <a:sym typeface="Ubuntu"/>
            </a:endParaRPr>
          </a:p>
        </p:txBody>
      </p:sp>
      <p:pic>
        <p:nvPicPr>
          <p:cNvPr id="105" name="Google Shape;105;p17" title="Fish-export.png"/>
          <p:cNvPicPr preferRelativeResize="0"/>
          <p:nvPr/>
        </p:nvPicPr>
        <p:blipFill>
          <a:blip r:embed="rId3">
            <a:alphaModFix amt="38000"/>
          </a:blip>
          <a:stretch>
            <a:fillRect/>
          </a:stretch>
        </p:blipFill>
        <p:spPr>
          <a:xfrm rot="538549">
            <a:off x="7820523" y="3858825"/>
            <a:ext cx="671575" cy="6715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6" name="Google Shape;106;p17" title="Fish-export.png"/>
          <p:cNvPicPr preferRelativeResize="0"/>
          <p:nvPr/>
        </p:nvPicPr>
        <p:blipFill>
          <a:blip r:embed="rId3">
            <a:alphaModFix amt="38000"/>
          </a:blip>
          <a:stretch>
            <a:fillRect/>
          </a:stretch>
        </p:blipFill>
        <p:spPr>
          <a:xfrm>
            <a:off x="7449548" y="1390025"/>
            <a:ext cx="671575" cy="6715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7" name="Google Shape;107;p17" title="Fish-export.png"/>
          <p:cNvPicPr preferRelativeResize="0"/>
          <p:nvPr/>
        </p:nvPicPr>
        <p:blipFill>
          <a:blip r:embed="rId3">
            <a:alphaModFix amt="38000"/>
          </a:blip>
          <a:stretch>
            <a:fillRect/>
          </a:stretch>
        </p:blipFill>
        <p:spPr>
          <a:xfrm rot="157846">
            <a:off x="6485323" y="2525488"/>
            <a:ext cx="671575" cy="6715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8" name="Google Shape;108;p17" title="stone2.png"/>
          <p:cNvPicPr preferRelativeResize="0"/>
          <p:nvPr/>
        </p:nvPicPr>
        <p:blipFill>
          <a:blip r:embed="rId4">
            <a:alphaModFix amt="17000"/>
          </a:blip>
          <a:stretch>
            <a:fillRect/>
          </a:stretch>
        </p:blipFill>
        <p:spPr>
          <a:xfrm>
            <a:off x="367400" y="4426175"/>
            <a:ext cx="672850" cy="6728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9" name="Google Shape;109;p17" title="Stone1.png"/>
          <p:cNvPicPr preferRelativeResize="0"/>
          <p:nvPr/>
        </p:nvPicPr>
        <p:blipFill>
          <a:blip r:embed="rId5">
            <a:alphaModFix amt="15000"/>
          </a:blip>
          <a:stretch>
            <a:fillRect/>
          </a:stretch>
        </p:blipFill>
        <p:spPr>
          <a:xfrm>
            <a:off x="7826399" y="4246775"/>
            <a:ext cx="852250" cy="8522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7" title="algae2.png"/>
          <p:cNvPicPr preferRelativeResize="0"/>
          <p:nvPr/>
        </p:nvPicPr>
        <p:blipFill>
          <a:blip r:embed="rId6">
            <a:alphaModFix amt="15000"/>
          </a:blip>
          <a:stretch>
            <a:fillRect/>
          </a:stretch>
        </p:blipFill>
        <p:spPr>
          <a:xfrm>
            <a:off x="8280175" y="3548100"/>
            <a:ext cx="797700" cy="1595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1" name="Google Shape;111;p17" title="algae1.png"/>
          <p:cNvPicPr preferRelativeResize="0"/>
          <p:nvPr/>
        </p:nvPicPr>
        <p:blipFill>
          <a:blip r:embed="rId7">
            <a:alphaModFix amt="15000"/>
          </a:blip>
          <a:stretch>
            <a:fillRect/>
          </a:stretch>
        </p:blipFill>
        <p:spPr>
          <a:xfrm>
            <a:off x="571575" y="3479350"/>
            <a:ext cx="939100" cy="1878200"/>
          </a:xfrm>
          <a:prstGeom prst="rect">
            <a:avLst/>
          </a:prstGeom>
          <a:noFill/>
          <a:ln>
            <a:noFill/>
          </a:ln>
        </p:spPr>
      </p:pic>
      <p:sp>
        <p:nvSpPr>
          <p:cNvPr id="112" name="Google Shape;112;p17"/>
          <p:cNvSpPr txBox="1"/>
          <p:nvPr/>
        </p:nvSpPr>
        <p:spPr>
          <a:xfrm>
            <a:off x="1463250" y="118275"/>
            <a:ext cx="6217500" cy="857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4000">
                <a:latin typeface="Ubuntu"/>
                <a:ea typeface="Ubuntu"/>
                <a:cs typeface="Ubuntu"/>
                <a:sym typeface="Ubuntu"/>
              </a:rPr>
              <a:t>hello-WaTor</a:t>
            </a:r>
            <a:endParaRPr sz="4000">
              <a:latin typeface="Ubuntu"/>
              <a:ea typeface="Ubuntu"/>
              <a:cs typeface="Ubuntu"/>
              <a:sym typeface="Ubuntu"/>
            </a:endParaRPr>
          </a:p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